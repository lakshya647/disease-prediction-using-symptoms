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58" r:id="rId4"/>
    <p:sldId id="268" r:id="rId5"/>
    <p:sldId id="259" r:id="rId6"/>
    <p:sldId id="269" r:id="rId7"/>
    <p:sldId id="270" r:id="rId8"/>
    <p:sldId id="260" r:id="rId9"/>
    <p:sldId id="262" r:id="rId10"/>
    <p:sldId id="261" r:id="rId11"/>
    <p:sldId id="271" r:id="rId12"/>
    <p:sldId id="272" r:id="rId13"/>
    <p:sldId id="266" r:id="rId14"/>
    <p:sldId id="267" r:id="rId15"/>
    <p:sldId id="26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10CE94-BDFA-4281-9265-8776EEC530DC}"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CD52-CCFD-405F-B731-0EB2D192D03E}" type="slidenum">
              <a:rPr lang="en-US" smtClean="0"/>
              <a:t>‹#›</a:t>
            </a:fld>
            <a:endParaRPr lang="en-US"/>
          </a:p>
        </p:txBody>
      </p:sp>
    </p:spTree>
    <p:extLst>
      <p:ext uri="{BB962C8B-B14F-4D97-AF65-F5344CB8AC3E}">
        <p14:creationId xmlns:p14="http://schemas.microsoft.com/office/powerpoint/2010/main" val="2304248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E0CD52-CCFD-405F-B731-0EB2D192D03E}" type="slidenum">
              <a:rPr lang="en-US" smtClean="0"/>
              <a:t>9</a:t>
            </a:fld>
            <a:endParaRPr lang="en-US"/>
          </a:p>
        </p:txBody>
      </p:sp>
    </p:spTree>
    <p:extLst>
      <p:ext uri="{BB962C8B-B14F-4D97-AF65-F5344CB8AC3E}">
        <p14:creationId xmlns:p14="http://schemas.microsoft.com/office/powerpoint/2010/main" val="2043023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15-02-2026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1711.05225" TargetMode="External"/><Relationship Id="rId2" Type="http://schemas.openxmlformats.org/officeDocument/2006/relationships/hyperlink" Target="https://doi.org/10.1038/nature21056"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434715" y="2934586"/>
            <a:ext cx="11197651" cy="978194"/>
          </a:xfrm>
        </p:spPr>
        <p:txBody>
          <a:bodyPr>
            <a:normAutofit fontScale="90000"/>
          </a:bodyPr>
          <a:lstStyle/>
          <a:p>
            <a:r>
              <a:rPr lang="en-IN" dirty="0"/>
              <a:t>Disease Prediction Using Symptoms</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Lakshya Shekhawat</a:t>
            </a:r>
          </a:p>
          <a:p>
            <a:r>
              <a:rPr lang="en-IN" dirty="0"/>
              <a:t>2427030845</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Anil Kumar</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a:xfrm>
            <a:off x="539646" y="1963711"/>
            <a:ext cx="10814154" cy="3897444"/>
          </a:xfrm>
        </p:spPr>
        <p:txBody>
          <a:bodyPr>
            <a:normAutofit/>
          </a:bodyPr>
          <a:lstStyle/>
          <a:p>
            <a:r>
              <a:rPr lang="en-US" dirty="0"/>
              <a:t>Healthcare decision-making often begins with the identification of symptoms, yet interpreting symptoms accurately without medical expertise can be challenging. Many diseases share common symptoms such as fever, fatigue, headache, nausea, and body pain, which makes early self-diagnosis confusing and sometimes misleading. With the rapid advancement of Artificial Intelligence and Machine Learning, it has become possible to develop intelligent systems that can analyze symptom patterns and predict potential diseases efficiently.</a:t>
            </a:r>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12032-6A97-0E59-BD05-B62A82056AB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55F723-13E1-2B56-0959-7896CAD59490}"/>
              </a:ext>
            </a:extLst>
          </p:cNvPr>
          <p:cNvSpPr>
            <a:spLocks noGrp="1"/>
          </p:cNvSpPr>
          <p:nvPr>
            <p:ph idx="1"/>
          </p:nvPr>
        </p:nvSpPr>
        <p:spPr>
          <a:xfrm>
            <a:off x="149902" y="1825625"/>
            <a:ext cx="11203898" cy="4874978"/>
          </a:xfrm>
        </p:spPr>
        <p:txBody>
          <a:bodyPr>
            <a:normAutofit fontScale="92500"/>
          </a:bodyPr>
          <a:lstStyle/>
          <a:p>
            <a:r>
              <a:rPr lang="en-US" dirty="0"/>
              <a:t>This project, </a:t>
            </a:r>
            <a:r>
              <a:rPr lang="en-US" b="1" dirty="0"/>
              <a:t>“Disease Prediction from Symptoms using Machine Learning,”</a:t>
            </a:r>
            <a:r>
              <a:rPr lang="en-US" dirty="0"/>
              <a:t> focuses on building a predictive system that classifies diseases based on user-selected symptoms. The system uses a TF-IDF vectorization technique to convert textual symptom inputs into numerical features and applies a Random Forest classifier to perform multi-class disease prediction. By leveraging a real-world medical dataset, the model learns patterns between symptom combinations and disease outcomes.</a:t>
            </a:r>
          </a:p>
          <a:p>
            <a:r>
              <a:rPr lang="en-US" dirty="0"/>
              <a:t>The objective of this project is to provide a quick, data-driven preliminary health assessment tool that can assist users in understanding possible medical conditions. Although it does not replace professional medical diagnosis, it demonstrates how machine learning can be applied in healthcare for early awareness and intelligent decision support.</a:t>
            </a:r>
          </a:p>
          <a:p>
            <a:endParaRPr lang="en-US" dirty="0"/>
          </a:p>
        </p:txBody>
      </p:sp>
    </p:spTree>
    <p:extLst>
      <p:ext uri="{BB962C8B-B14F-4D97-AF65-F5344CB8AC3E}">
        <p14:creationId xmlns:p14="http://schemas.microsoft.com/office/powerpoint/2010/main" val="216016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a:xfrm>
            <a:off x="0" y="1825624"/>
            <a:ext cx="11707318" cy="5032375"/>
          </a:xfrm>
        </p:spPr>
        <p:txBody>
          <a:bodyPr>
            <a:normAutofit fontScale="92500" lnSpcReduction="10000"/>
          </a:bodyPr>
          <a:lstStyle/>
          <a:p>
            <a:r>
              <a:rPr lang="en-US" dirty="0"/>
              <a:t>Recent advancements in Machine Learning (ML) and Artificial Intelligence (AI) have significantly improved disease prediction systems based on symptom analysis. Several research studies have explored classification algorithms such as Decision Trees, Naïve Bayes, Support Vector Machines (SVM), Random Forest, and Neural Networks for medical diagnosis tasks. These models analyze symptom combinations to predict diseases with improved accuracy compared to traditional rule-based systems.</a:t>
            </a:r>
          </a:p>
          <a:p>
            <a:r>
              <a:rPr lang="en-US" dirty="0"/>
              <a:t>Early disease prediction systems relied heavily on rule-based expert systems, where predefined medical rules were used to match symptoms with diseases. However, these systems lacked adaptability and failed to learn from new data. With the introduction of supervised machine learning techniques, models became capable of learning complex patterns from large medical datasets. Among these techniques, Random Forest has shown strong performance in multi-class classification problems due to its ensemble learning approach and reduced risk of overfitting.</a:t>
            </a:r>
          </a:p>
        </p:txBody>
      </p:sp>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CF5F2-C655-ECBA-32C3-215013F0BFF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121273B-5C40-5ABB-F08B-043C6D38B29F}"/>
              </a:ext>
            </a:extLst>
          </p:cNvPr>
          <p:cNvSpPr>
            <a:spLocks noGrp="1"/>
          </p:cNvSpPr>
          <p:nvPr>
            <p:ph idx="1"/>
          </p:nvPr>
        </p:nvSpPr>
        <p:spPr>
          <a:xfrm>
            <a:off x="838200" y="1825625"/>
            <a:ext cx="10515600" cy="4874978"/>
          </a:xfrm>
        </p:spPr>
        <p:txBody>
          <a:bodyPr>
            <a:normAutofit/>
          </a:bodyPr>
          <a:lstStyle/>
          <a:p>
            <a:r>
              <a:rPr lang="en-US" dirty="0"/>
              <a:t>Recent studies have also applied Natural Language Processing (NLP) techniques such as TF-IDF vectorization to convert textual symptom descriptions into numerical representations. This allows models to handle real-world symptom inputs instead of only structured binary data. Comparative research indicates that combining TF-IDF with classification algorithms significantly improves prediction performance in text-based medical datasets.</a:t>
            </a:r>
          </a:p>
          <a:p>
            <a:r>
              <a:rPr lang="en-US" dirty="0"/>
              <a:t>Additionally, several commercial symptom checker applications and online healthcare platforms utilize machine learning models to provide preliminary diagnosis suggestions. However, many of these systems are proprietary and lack transparency in their methodology.</a:t>
            </a:r>
          </a:p>
          <a:p>
            <a:endParaRPr lang="en-US" dirty="0"/>
          </a:p>
        </p:txBody>
      </p:sp>
    </p:spTree>
    <p:extLst>
      <p:ext uri="{BB962C8B-B14F-4D97-AF65-F5344CB8AC3E}">
        <p14:creationId xmlns:p14="http://schemas.microsoft.com/office/powerpoint/2010/main" val="2295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DACD2-B760-8774-C169-B05947CB12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41E800-2A1B-5480-C8C2-478C5AEEC024}"/>
              </a:ext>
            </a:extLst>
          </p:cNvPr>
          <p:cNvSpPr>
            <a:spLocks noGrp="1"/>
          </p:cNvSpPr>
          <p:nvPr>
            <p:ph idx="1"/>
          </p:nvPr>
        </p:nvSpPr>
        <p:spPr/>
        <p:txBody>
          <a:bodyPr/>
          <a:lstStyle/>
          <a:p>
            <a:r>
              <a:rPr lang="en-US" dirty="0"/>
              <a:t>The reviewed literature demonstrates that ML-based disease prediction systems provide faster, scalable, and data-driven diagnostic support. Inspired by these approaches, this project implements TF-IDF vectorization with a Random Forest classifier to predict diseases based on symptom inputs, contributing to the growing application of AI in healthcare.</a:t>
            </a:r>
          </a:p>
          <a:p>
            <a:endParaRPr lang="en-US" dirty="0"/>
          </a:p>
        </p:txBody>
      </p:sp>
    </p:spTree>
    <p:extLst>
      <p:ext uri="{BB962C8B-B14F-4D97-AF65-F5344CB8AC3E}">
        <p14:creationId xmlns:p14="http://schemas.microsoft.com/office/powerpoint/2010/main" val="1150157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lstStyle/>
          <a:p>
            <a:r>
              <a:rPr lang="en-US" dirty="0"/>
              <a:t>Accurately identifying diseases based on symptoms is challenging due to overlapping and similar symptom patterns.</a:t>
            </a:r>
            <a:br>
              <a:rPr lang="en-US" dirty="0"/>
            </a:br>
            <a:r>
              <a:rPr lang="en-US" dirty="0"/>
              <a:t>A machine learning–based system is needed to analyze symptoms and predict potential diseases efficiently.</a:t>
            </a:r>
          </a:p>
        </p:txBody>
      </p:sp>
    </p:spTree>
    <p:extLst>
      <p:ext uri="{BB962C8B-B14F-4D97-AF65-F5344CB8AC3E}">
        <p14:creationId xmlns:p14="http://schemas.microsoft.com/office/powerpoint/2010/main" val="2374707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a:xfrm>
            <a:off x="838200" y="1870595"/>
            <a:ext cx="10515600" cy="4351338"/>
          </a:xfrm>
        </p:spPr>
        <p:txBody>
          <a:bodyPr/>
          <a:lstStyle/>
          <a:p>
            <a:r>
              <a:rPr lang="en-US" dirty="0"/>
              <a:t>To develop a machine learning model that predicts diseases based on symptom inputs.</a:t>
            </a:r>
          </a:p>
          <a:p>
            <a:r>
              <a:rPr lang="en-US" dirty="0"/>
              <a:t>To implement TF-IDF vectorization for converting textual symptoms into numerical features.</a:t>
            </a:r>
          </a:p>
          <a:p>
            <a:r>
              <a:rPr lang="en-US" dirty="0"/>
              <a:t>To design a user-friendly web interface for real-time disease prediction.</a:t>
            </a:r>
          </a:p>
          <a:p>
            <a:r>
              <a:rPr lang="en-US" dirty="0"/>
              <a:t>To evaluate and improve model accuracy using a real-world medical dataset.</a:t>
            </a:r>
            <a:endParaRPr lang="en-IN" dirty="0"/>
          </a:p>
        </p:txBody>
      </p:sp>
    </p:spTree>
    <p:extLst>
      <p:ext uri="{BB962C8B-B14F-4D97-AF65-F5344CB8AC3E}">
        <p14:creationId xmlns:p14="http://schemas.microsoft.com/office/powerpoint/2010/main" val="354709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Methodology (4 slides)</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a:xfrm>
            <a:off x="0" y="1825624"/>
            <a:ext cx="12192000" cy="5032375"/>
          </a:xfrm>
        </p:spPr>
        <p:txBody>
          <a:bodyPr>
            <a:normAutofit fontScale="92500"/>
          </a:bodyPr>
          <a:lstStyle/>
          <a:p>
            <a:r>
              <a:rPr lang="en-US" dirty="0"/>
              <a:t>The proposed system for disease prediction from symptoms follows a structured machine learning workflow consisting of data preprocessing, feature extraction, model training, evaluation, and deployment. The objective is to develop a reliable classification model that predicts diseases based solely on symptom inputs.</a:t>
            </a:r>
          </a:p>
          <a:p>
            <a:r>
              <a:rPr lang="en-US" dirty="0"/>
              <a:t>The first step involves </a:t>
            </a:r>
            <a:r>
              <a:rPr lang="en-US" b="1" dirty="0"/>
              <a:t>data collection and preprocessing</a:t>
            </a:r>
            <a:r>
              <a:rPr lang="en-US" dirty="0"/>
              <a:t>. A real-world medical dataset containing disease labels and multiple symptom columns is used. Since datasets may contain missing values, initial cleaning is performed by replacing null entries with empty strings. All symptom columns are identified and combined into a single textual feature representing the overall symptom description of a patient. This ensures that the model can analyze the full combination of symptoms rather than treating them independently. The disease column is then encoded using Label Encoding to convert categorical disease names into numerical labels suitable for machine learning algorithms.</a:t>
            </a:r>
          </a:p>
        </p:txBody>
      </p:sp>
    </p:spTree>
    <p:extLst>
      <p:ext uri="{BB962C8B-B14F-4D97-AF65-F5344CB8AC3E}">
        <p14:creationId xmlns:p14="http://schemas.microsoft.com/office/powerpoint/2010/main" val="1077724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F56A9-195B-9B6D-7110-EDAC67CA937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4AB9521-A1B1-ACA1-9E90-60F561D6B874}"/>
              </a:ext>
            </a:extLst>
          </p:cNvPr>
          <p:cNvSpPr>
            <a:spLocks noGrp="1"/>
          </p:cNvSpPr>
          <p:nvPr>
            <p:ph idx="1"/>
          </p:nvPr>
        </p:nvSpPr>
        <p:spPr>
          <a:xfrm>
            <a:off x="0" y="1825624"/>
            <a:ext cx="12192000" cy="5032375"/>
          </a:xfrm>
        </p:spPr>
        <p:txBody>
          <a:bodyPr>
            <a:normAutofit fontScale="92500" lnSpcReduction="10000"/>
          </a:bodyPr>
          <a:lstStyle/>
          <a:p>
            <a:r>
              <a:rPr lang="en-US" dirty="0"/>
              <a:t>The third step is </a:t>
            </a:r>
            <a:r>
              <a:rPr lang="en-US" b="1" dirty="0"/>
              <a:t>model development and training</a:t>
            </a:r>
            <a:r>
              <a:rPr lang="en-US" dirty="0"/>
              <a:t>. A Random Forest Classifier is used for multi-class disease prediction. Random Forest is an ensemble learning algorithm that constructs multiple decision trees and combines their predictions using majority voting. This approach improves accuracy and reduces overfitting compared to single decision tree models. The dataset is divided into training and testing sets using an 80:20 split to evaluate model generalization performance. The model is trained on the training data and then tested on unseen data to compute accuracy.</a:t>
            </a:r>
          </a:p>
          <a:p>
            <a:r>
              <a:rPr lang="en-US" dirty="0"/>
              <a:t>The fourth step involves </a:t>
            </a:r>
            <a:r>
              <a:rPr lang="en-US" b="1" dirty="0"/>
              <a:t>model evaluation</a:t>
            </a:r>
            <a:r>
              <a:rPr lang="en-US" dirty="0"/>
              <a:t>. Performance is measured using accuracy metrics to determine how effectively the model predicts disease classes. If necessary, hyperparameters such as the number of trees can be adjusted to optimize performance. Once satisfactory accuracy is achieved, the trained model is saved using </a:t>
            </a:r>
            <a:r>
              <a:rPr lang="en-US" dirty="0" err="1"/>
              <a:t>joblib</a:t>
            </a:r>
            <a:r>
              <a:rPr lang="en-US" dirty="0"/>
              <a:t> in a serialized .</a:t>
            </a:r>
            <a:r>
              <a:rPr lang="en-US" dirty="0" err="1"/>
              <a:t>pkl</a:t>
            </a:r>
            <a:r>
              <a:rPr lang="en-US" dirty="0"/>
              <a:t> format, allowing it to be reused without retraining.</a:t>
            </a:r>
          </a:p>
          <a:p>
            <a:pPr marL="0" indent="0">
              <a:buNone/>
            </a:pPr>
            <a:endParaRPr lang="en-US" dirty="0"/>
          </a:p>
        </p:txBody>
      </p:sp>
    </p:spTree>
    <p:extLst>
      <p:ext uri="{BB962C8B-B14F-4D97-AF65-F5344CB8AC3E}">
        <p14:creationId xmlns:p14="http://schemas.microsoft.com/office/powerpoint/2010/main" val="1236733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8C5B4-3B81-F0D7-9CFB-0CBB70284FD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D8E281-5E19-82C8-78B0-3D5AFC0FF301}"/>
              </a:ext>
            </a:extLst>
          </p:cNvPr>
          <p:cNvSpPr>
            <a:spLocks noGrp="1"/>
          </p:cNvSpPr>
          <p:nvPr>
            <p:ph idx="1"/>
          </p:nvPr>
        </p:nvSpPr>
        <p:spPr>
          <a:xfrm>
            <a:off x="0" y="1825624"/>
            <a:ext cx="12192000" cy="5032375"/>
          </a:xfrm>
        </p:spPr>
        <p:txBody>
          <a:bodyPr>
            <a:normAutofit/>
          </a:bodyPr>
          <a:lstStyle/>
          <a:p>
            <a:r>
              <a:rPr lang="en-US" dirty="0"/>
              <a:t>The final step is </a:t>
            </a:r>
            <a:r>
              <a:rPr lang="en-US" b="1" dirty="0"/>
              <a:t>deployment using </a:t>
            </a:r>
            <a:r>
              <a:rPr lang="en-US" b="1" dirty="0" err="1"/>
              <a:t>Streamlit</a:t>
            </a:r>
            <a:r>
              <a:rPr lang="en-US" dirty="0"/>
              <a:t>. A web-based user interface is developed where users select symptoms from dropdown menus. The selected symptoms are combined into a single input string, processed using the trained TF-IDF model, and passed into the Random Forest classifier for prediction. The predicted disease and model confidence score are displayed in real time.</a:t>
            </a:r>
          </a:p>
          <a:p>
            <a:r>
              <a:rPr lang="en-US" dirty="0"/>
              <a:t>This methodology ensures a systematic pipeline from raw symptom data to a deployable predictive application, demonstrating the practical application of machine learning in healthcare diagnostics.</a:t>
            </a:r>
          </a:p>
        </p:txBody>
      </p:sp>
    </p:spTree>
    <p:extLst>
      <p:ext uri="{BB962C8B-B14F-4D97-AF65-F5344CB8AC3E}">
        <p14:creationId xmlns:p14="http://schemas.microsoft.com/office/powerpoint/2010/main" val="3011412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914257E-1E2A-4AC7-89EC-1FB65C9C0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3E1C8F1-97F5-489C-8308-958F09657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a:xfrm>
            <a:off x="723901" y="509587"/>
            <a:ext cx="7649239" cy="742951"/>
          </a:xfrm>
        </p:spPr>
        <p:txBody>
          <a:bodyPr vert="horz" lIns="91440" tIns="45720" rIns="91440" bIns="45720" rtlCol="0" anchor="ctr">
            <a:normAutofit/>
          </a:bodyPr>
          <a:lstStyle/>
          <a:p>
            <a:r>
              <a:rPr lang="en-US" sz="3600" kern="1200">
                <a:solidFill>
                  <a:schemeClr val="tx1"/>
                </a:solidFill>
                <a:latin typeface="+mj-lt"/>
                <a:ea typeface="+mj-ea"/>
                <a:cs typeface="+mj-cs"/>
              </a:rPr>
              <a:t>Result </a:t>
            </a:r>
          </a:p>
        </p:txBody>
      </p:sp>
      <p:pic>
        <p:nvPicPr>
          <p:cNvPr id="5" name="Content Placeholder 4">
            <a:extLst>
              <a:ext uri="{FF2B5EF4-FFF2-40B4-BE49-F238E27FC236}">
                <a16:creationId xmlns:a16="http://schemas.microsoft.com/office/drawing/2014/main" id="{80F9EEF7-91AE-B8AB-C9E3-C3C0D28341F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4946" y="2072640"/>
            <a:ext cx="8830233" cy="4128135"/>
          </a:xfrm>
          <a:prstGeom prst="rect">
            <a:avLst/>
          </a:prstGeom>
        </p:spPr>
      </p:pic>
      <p:sp>
        <p:nvSpPr>
          <p:cNvPr id="14" name="Freeform: Shape 13">
            <a:extLst>
              <a:ext uri="{FF2B5EF4-FFF2-40B4-BE49-F238E27FC236}">
                <a16:creationId xmlns:a16="http://schemas.microsoft.com/office/drawing/2014/main" id="{DEB62645-D4DA-4E99-8344-B1536F63D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5671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pPr marL="0" indent="0">
              <a:buNone/>
            </a:pPr>
            <a:r>
              <a:rPr lang="en-US" sz="1600" dirty="0"/>
              <a:t>Mention outcome of your project that you have either achieved in current semester or will achieve by next semester.</a:t>
            </a:r>
          </a:p>
          <a:p>
            <a:pPr marL="0" indent="0">
              <a:buNone/>
            </a:pPr>
            <a:r>
              <a:rPr lang="en-US" sz="1600" dirty="0"/>
              <a:t>It is mandatory to have an Achievement of outcome for the work you have done till now in </a:t>
            </a:r>
            <a:r>
              <a:rPr lang="en-US" sz="1600" dirty="0" err="1"/>
              <a:t>pbl</a:t>
            </a:r>
            <a:r>
              <a:rPr lang="en-US" sz="1600" dirty="0"/>
              <a:t>  by next semester. </a:t>
            </a:r>
          </a:p>
          <a:p>
            <a:pPr marL="0" indent="0">
              <a:buNone/>
            </a:pPr>
            <a:endParaRPr lang="en-US" dirty="0"/>
          </a:p>
          <a:p>
            <a:r>
              <a:rPr lang="en-US" dirty="0"/>
              <a:t>Research Paper (Drafted/ Published)</a:t>
            </a:r>
          </a:p>
          <a:p>
            <a:r>
              <a:rPr lang="en-US" dirty="0"/>
              <a:t>Patent   (drafted / published)</a:t>
            </a:r>
          </a:p>
          <a:p>
            <a:r>
              <a:rPr lang="en-US" dirty="0"/>
              <a:t>Copyright (drafted / published)</a:t>
            </a:r>
          </a:p>
          <a:p>
            <a:r>
              <a:rPr lang="en-US" dirty="0"/>
              <a:t>Real Time Deployment ( deployed / partially completed)</a:t>
            </a:r>
          </a:p>
        </p:txBody>
      </p:sp>
    </p:spTree>
    <p:extLst>
      <p:ext uri="{BB962C8B-B14F-4D97-AF65-F5344CB8AC3E}">
        <p14:creationId xmlns:p14="http://schemas.microsoft.com/office/powerpoint/2010/main" val="2154956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a:xfrm>
            <a:off x="838200" y="1825624"/>
            <a:ext cx="10515600" cy="5032375"/>
          </a:xfrm>
        </p:spPr>
        <p:txBody>
          <a:bodyPr>
            <a:normAutofit fontScale="92500" lnSpcReduction="20000"/>
          </a:bodyPr>
          <a:lstStyle/>
          <a:p>
            <a:pPr marL="0" indent="0">
              <a:buNone/>
            </a:pPr>
            <a:r>
              <a:rPr lang="en-US" b="1" dirty="0"/>
              <a:t>Esteva, A., </a:t>
            </a:r>
            <a:r>
              <a:rPr lang="en-US" b="1" dirty="0" err="1"/>
              <a:t>Kuprel</a:t>
            </a:r>
            <a:r>
              <a:rPr lang="en-US" b="1" dirty="0"/>
              <a:t>, B., Novoa, R. A., et al.</a:t>
            </a:r>
            <a:br>
              <a:rPr lang="en-US" dirty="0"/>
            </a:br>
            <a:r>
              <a:rPr lang="en-US" i="1" dirty="0"/>
              <a:t>Dermatologist-Level Classification of Skin Cancer with Deep Neural Networks</a:t>
            </a:r>
            <a:r>
              <a:rPr lang="en-US" dirty="0"/>
              <a:t>.</a:t>
            </a:r>
            <a:br>
              <a:rPr lang="en-US" dirty="0"/>
            </a:br>
            <a:r>
              <a:rPr lang="en-US" i="1" dirty="0"/>
              <a:t>Nature</a:t>
            </a:r>
            <a:r>
              <a:rPr lang="en-US" dirty="0"/>
              <a:t>, 2017.</a:t>
            </a:r>
            <a:br>
              <a:rPr lang="en-US" dirty="0"/>
            </a:br>
            <a:r>
              <a:rPr lang="en-US" dirty="0">
                <a:hlinkClick r:id="rId2"/>
              </a:rPr>
              <a:t>https://doi.org/10.1038/nature21056</a:t>
            </a:r>
            <a:endParaRPr lang="en-US" dirty="0"/>
          </a:p>
          <a:p>
            <a:pPr marL="0" indent="0">
              <a:buNone/>
            </a:pPr>
            <a:r>
              <a:rPr lang="en-US" b="1" dirty="0" err="1"/>
              <a:t>Rajpurkar</a:t>
            </a:r>
            <a:r>
              <a:rPr lang="en-US" b="1" dirty="0"/>
              <a:t>, P., Irvin, J., Zhu, K., et al.</a:t>
            </a:r>
            <a:br>
              <a:rPr lang="en-US" dirty="0"/>
            </a:br>
            <a:r>
              <a:rPr lang="en-US" i="1" dirty="0" err="1"/>
              <a:t>CheXNet</a:t>
            </a:r>
            <a:r>
              <a:rPr lang="en-US" i="1" dirty="0"/>
              <a:t>: Radiologist-Level Pneumonia Detection on Chest X-Rays with Deep Learning</a:t>
            </a:r>
            <a:r>
              <a:rPr lang="en-US" dirty="0"/>
              <a:t>.</a:t>
            </a:r>
            <a:br>
              <a:rPr lang="en-US" dirty="0"/>
            </a:br>
            <a:r>
              <a:rPr lang="en-US" i="1" dirty="0" err="1"/>
              <a:t>arXiv</a:t>
            </a:r>
            <a:r>
              <a:rPr lang="en-US" i="1" dirty="0"/>
              <a:t> preprint</a:t>
            </a:r>
            <a:r>
              <a:rPr lang="en-US" dirty="0"/>
              <a:t>, 2017.</a:t>
            </a:r>
            <a:br>
              <a:rPr lang="en-US" dirty="0"/>
            </a:br>
            <a:r>
              <a:rPr lang="en-US" dirty="0">
                <a:hlinkClick r:id="rId3"/>
              </a:rPr>
              <a:t>https://arxiv.org/abs/1711.05225</a:t>
            </a:r>
            <a:endParaRPr lang="en-US" dirty="0"/>
          </a:p>
          <a:p>
            <a:pPr marL="0" indent="0">
              <a:buNone/>
            </a:pPr>
            <a:r>
              <a:rPr lang="en-US" b="1" dirty="0"/>
              <a:t>Hegde, S., Kulkarni, P., &amp; </a:t>
            </a:r>
            <a:r>
              <a:rPr lang="en-US" b="1" dirty="0" err="1"/>
              <a:t>Shirole</a:t>
            </a:r>
            <a:r>
              <a:rPr lang="en-US" b="1" dirty="0"/>
              <a:t>, D.</a:t>
            </a:r>
            <a:br>
              <a:rPr lang="en-US" dirty="0"/>
            </a:br>
            <a:r>
              <a:rPr lang="en-US" i="1" dirty="0"/>
              <a:t>Symptom Based Disease Prediction Using Machine Learning</a:t>
            </a:r>
            <a:r>
              <a:rPr lang="en-US" dirty="0"/>
              <a:t>.</a:t>
            </a:r>
            <a:br>
              <a:rPr lang="en-US" dirty="0"/>
            </a:br>
            <a:r>
              <a:rPr lang="en-US" i="1" dirty="0"/>
              <a:t>International Journal of Advanced Research in Computer Science and Software Engineering</a:t>
            </a:r>
            <a:r>
              <a:rPr lang="en-US" dirty="0"/>
              <a:t>, 2019.</a:t>
            </a:r>
          </a:p>
          <a:p>
            <a:pPr marL="0" indent="0">
              <a:buNone/>
            </a:pPr>
            <a:r>
              <a:rPr lang="en-US" b="1" dirty="0"/>
              <a:t>Nguyen, L., Yu, H., &amp; Nguyen, H.</a:t>
            </a:r>
            <a:br>
              <a:rPr lang="en-US" dirty="0"/>
            </a:br>
            <a:r>
              <a:rPr lang="en-US" i="1" dirty="0"/>
              <a:t>A Comparative Study of Symptom Checker Tools on Diagnosis Accuracy</a:t>
            </a:r>
            <a:r>
              <a:rPr lang="en-US" dirty="0"/>
              <a:t>.</a:t>
            </a:r>
            <a:br>
              <a:rPr lang="en-US" dirty="0"/>
            </a:br>
            <a:r>
              <a:rPr lang="en-US" i="1" dirty="0"/>
              <a:t>Journal of Medical Systems</a:t>
            </a:r>
            <a:r>
              <a:rPr lang="en-US" dirty="0"/>
              <a:t>, 2021.</a:t>
            </a:r>
            <a:endParaRPr lang="en-IN" dirty="0"/>
          </a:p>
        </p:txBody>
      </p:sp>
    </p:spTree>
    <p:extLst>
      <p:ext uri="{BB962C8B-B14F-4D97-AF65-F5344CB8AC3E}">
        <p14:creationId xmlns:p14="http://schemas.microsoft.com/office/powerpoint/2010/main" val="2724917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1278</Words>
  <Application>Microsoft Office PowerPoint</Application>
  <PresentationFormat>Widescreen</PresentationFormat>
  <Paragraphs>53</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Wingdings</vt:lpstr>
      <vt:lpstr>Office Theme</vt:lpstr>
      <vt:lpstr>Disease Prediction Using Symptoms</vt:lpstr>
      <vt:lpstr>Outline</vt:lpstr>
      <vt:lpstr>Introduction</vt:lpstr>
      <vt:lpstr>PowerPoint Presentation</vt:lpstr>
      <vt:lpstr>Literature Review</vt:lpstr>
      <vt:lpstr>PowerPoint Presentation</vt:lpstr>
      <vt:lpstr>PowerPoint Presentation</vt:lpstr>
      <vt:lpstr>Problem Statement</vt:lpstr>
      <vt:lpstr>Objectives</vt:lpstr>
      <vt:lpstr>Proposed Methodology (4 slides)</vt:lpstr>
      <vt:lpstr>PowerPoint Presentation</vt:lpstr>
      <vt:lpstr>PowerPoint Presentation</vt:lpstr>
      <vt:lpstr>Result </vt:lpstr>
      <vt:lpstr>Outcome </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Lakshya Shekhawat [CSE - 2024]</cp:lastModifiedBy>
  <cp:revision>11</cp:revision>
  <dcterms:created xsi:type="dcterms:W3CDTF">2025-09-29T05:03:41Z</dcterms:created>
  <dcterms:modified xsi:type="dcterms:W3CDTF">2026-02-15T15:42:17Z</dcterms:modified>
</cp:coreProperties>
</file>